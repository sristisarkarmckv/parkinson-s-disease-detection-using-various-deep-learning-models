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96995-1C43-4AF1-8EFA-0BDBB7422BBC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7E886-9AD8-4B1E-A7B9-85A72D263C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515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1BF3-5F5F-491E-AF09-CDE94144447B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86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6077-6666-46FA-9DBA-F3B0D9C23B7D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43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05D2D-E27A-4233-B7FA-74A402CDE36C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10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D970-4064-40A2-87C3-A86EC4B40756}" type="datetime1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31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8B13-295E-42BE-A720-43F1B8CA3CA6}" type="datetime1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59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A201-B608-494E-B9BC-35DC95FEB779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5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E9572-7EFB-4F6E-8C8D-E4C8B5001401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24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34D2-9441-4269-8A5D-981FD2F71842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18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8A6F4-46F7-431E-A46A-A95D436E4F3A}" type="datetime1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7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F087-699A-42E1-99E3-E751F66114D0}" type="datetime1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61105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F087-699A-42E1-99E3-E751F66114D0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973317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F087-699A-42E1-99E3-E751F66114D0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3727093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B43D7-F6D7-48A4-98CD-A8CA4F18EC96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44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F087-699A-42E1-99E3-E751F66114D0}" type="datetime1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309960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F087-699A-42E1-99E3-E751F66114D0}" type="datetime1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804280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D68AE-0427-4AEC-B1C6-47204B23C93A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117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F4880-ABDC-4390-9CEB-5C0737CB9231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36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70F087-699A-42E1-99E3-E751F66114D0}" type="datetime1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IN"/>
              <a:t>DS project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DA3F9-A877-4CED-879E-092801F380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830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A51060-0D2D-186D-8EB1-079FEFD8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D9A674-0770-F2FE-637B-3B5AB3BB2B99}"/>
              </a:ext>
            </a:extLst>
          </p:cNvPr>
          <p:cNvSpPr txBox="1"/>
          <p:nvPr/>
        </p:nvSpPr>
        <p:spPr>
          <a:xfrm>
            <a:off x="5894070" y="-1900065"/>
            <a:ext cx="8420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Parkinson’s Disease Detection Using Machine Learning</a:t>
            </a:r>
            <a:endParaRPr lang="en-IN" sz="44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C95E3-4CE3-D21E-8918-0AFA07FFBA7C}"/>
              </a:ext>
            </a:extLst>
          </p:cNvPr>
          <p:cNvSpPr txBox="1"/>
          <p:nvPr/>
        </p:nvSpPr>
        <p:spPr>
          <a:xfrm>
            <a:off x="-4434840" y="7578477"/>
            <a:ext cx="10698480" cy="2743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MCKV Institute of Engineering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Dr.Poli</a:t>
            </a: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Sil Sen</a:t>
            </a:r>
            <a:endParaRPr lang="en-IN" sz="4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506474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E599-976E-48C4-959B-9210195A1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B49716-BCA1-5F78-2CC7-AD9F3569A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1408E2-9754-A7FA-8539-E99D957E0516}"/>
              </a:ext>
            </a:extLst>
          </p:cNvPr>
          <p:cNvSpPr txBox="1"/>
          <p:nvPr/>
        </p:nvSpPr>
        <p:spPr>
          <a:xfrm>
            <a:off x="1847850" y="774555"/>
            <a:ext cx="84201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Parkinson’s Disease Detection Using Machine Learning</a:t>
            </a:r>
            <a:endParaRPr lang="en-IN" sz="44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53829-6818-CE3B-32A8-904D0EDD85DD}"/>
              </a:ext>
            </a:extLst>
          </p:cNvPr>
          <p:cNvSpPr txBox="1"/>
          <p:nvPr/>
        </p:nvSpPr>
        <p:spPr>
          <a:xfrm>
            <a:off x="708660" y="3075057"/>
            <a:ext cx="10698480" cy="2743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MCKV Institute of Engineering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Dr.Poli</a:t>
            </a: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Sil Sen</a:t>
            </a:r>
            <a:endParaRPr lang="en-IN" sz="4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523995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D824-F76E-CB3C-A7CB-B72376C4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3ACCE8-2431-62E8-8865-44E1A9B23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DF1544-098F-16BB-F68B-72FF1BB91102}"/>
              </a:ext>
            </a:extLst>
          </p:cNvPr>
          <p:cNvSpPr txBox="1"/>
          <p:nvPr/>
        </p:nvSpPr>
        <p:spPr>
          <a:xfrm>
            <a:off x="4036695" y="514187"/>
            <a:ext cx="4118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Introduction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F17DB-3E18-AEE9-83FE-573289EF52F5}"/>
              </a:ext>
            </a:extLst>
          </p:cNvPr>
          <p:cNvSpPr txBox="1"/>
          <p:nvPr/>
        </p:nvSpPr>
        <p:spPr>
          <a:xfrm>
            <a:off x="803910" y="1506998"/>
            <a:ext cx="10584180" cy="5008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Parkinson’s Disease (PD) is a progressive neurologist disorder that affects Movement.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Early detection is important to begin treatment and slow disease progression.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Traditional Diagnosis is time-consuming and depends on expert neurologists.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Machine Learning can help detect Parkinson’s using patient voice or handwriting data more quickly and accurately.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59523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DAFD-3DB2-6C25-9320-41130CFE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1D61C9-6EC2-6F46-8D1B-E005B0514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746F34-C62A-0C11-7A39-66862AC68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854275"/>
            <a:ext cx="10858500" cy="564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3E06E8-4F2D-C4E5-7BCB-C81C61D05B45}"/>
              </a:ext>
            </a:extLst>
          </p:cNvPr>
          <p:cNvSpPr txBox="1"/>
          <p:nvPr/>
        </p:nvSpPr>
        <p:spPr>
          <a:xfrm>
            <a:off x="8258175" y="1428750"/>
            <a:ext cx="1585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DatScan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8784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C0352-8C9A-9846-9267-AE15D9C29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EBA49B-6AEB-367C-7DD8-3F71D1FD5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CBDC6D-8D13-D22B-3FE5-6B1E376A8089}"/>
              </a:ext>
            </a:extLst>
          </p:cNvPr>
          <p:cNvSpPr txBox="1"/>
          <p:nvPr/>
        </p:nvSpPr>
        <p:spPr>
          <a:xfrm>
            <a:off x="2420303" y="514187"/>
            <a:ext cx="7351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Objective of the Project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22620-6520-99B8-9A00-CD56868A330A}"/>
              </a:ext>
            </a:extLst>
          </p:cNvPr>
          <p:cNvSpPr txBox="1"/>
          <p:nvPr/>
        </p:nvSpPr>
        <p:spPr>
          <a:xfrm>
            <a:off x="803910" y="1755945"/>
            <a:ext cx="10584180" cy="279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To </a:t>
            </a:r>
            <a:r>
              <a:rPr lang="en-US" sz="2400" dirty="0"/>
              <a:t>build a machine learning model that predicts Parkinson’s Disease.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analyze patient data (spiral drawing) and identify key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develop a simple system where patients can upload their </a:t>
            </a:r>
            <a:r>
              <a:rPr lang="en-US" sz="2400" dirty="0" err="1"/>
              <a:t>img</a:t>
            </a:r>
            <a:r>
              <a:rPr lang="en-US" sz="2400" dirty="0"/>
              <a:t> sample and get a test result.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To support doctors with faster and more screening.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973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A990B-B537-FCB4-D4F5-0109B3407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C1DFC4-54F8-5F71-9986-B0F5FB57F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2CC602-1B87-93F8-82DE-1D8827211C32}"/>
              </a:ext>
            </a:extLst>
          </p:cNvPr>
          <p:cNvSpPr txBox="1"/>
          <p:nvPr/>
        </p:nvSpPr>
        <p:spPr>
          <a:xfrm>
            <a:off x="2420303" y="514187"/>
            <a:ext cx="73513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Dataset Description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1B712-BB0B-9623-2BB8-7FAE71644130}"/>
              </a:ext>
            </a:extLst>
          </p:cNvPr>
          <p:cNvSpPr txBox="1"/>
          <p:nvPr/>
        </p:nvSpPr>
        <p:spPr>
          <a:xfrm>
            <a:off x="803910" y="1755945"/>
            <a:ext cx="10584180" cy="279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Dataset Used: UCI Parkinson’s Dataset/ Spiral Image 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Include features such as: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         * Scanned brain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Total Sample : 550 – 600 </a:t>
            </a:r>
            <a:r>
              <a:rPr lang="en-IN" sz="2400" dirty="0" err="1"/>
              <a:t>img</a:t>
            </a:r>
            <a:r>
              <a:rPr lang="en-IN" sz="2400" dirty="0"/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Purpose : Provide labelled data for ML training and </a:t>
            </a:r>
            <a:r>
              <a:rPr lang="en-IN" sz="2400" dirty="0" err="1"/>
              <a:t>evalution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252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17888-69E0-7558-8783-5935DFF9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569B8-4EFA-9146-3FE3-37D5521DC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836BA2-E652-5750-92DE-01209E4D9713}"/>
              </a:ext>
            </a:extLst>
          </p:cNvPr>
          <p:cNvSpPr txBox="1"/>
          <p:nvPr/>
        </p:nvSpPr>
        <p:spPr>
          <a:xfrm>
            <a:off x="3888582" y="514187"/>
            <a:ext cx="4414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Methodology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53E42-E79D-CADF-2001-64FE385A7E5A}"/>
              </a:ext>
            </a:extLst>
          </p:cNvPr>
          <p:cNvSpPr txBox="1"/>
          <p:nvPr/>
        </p:nvSpPr>
        <p:spPr>
          <a:xfrm>
            <a:off x="803910" y="1755945"/>
            <a:ext cx="10584180" cy="4452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Data Collection: </a:t>
            </a:r>
            <a:r>
              <a:rPr lang="en-US" sz="2400" dirty="0"/>
              <a:t>Obtain dataset from reliable sources.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Preprocessing:</a:t>
            </a:r>
            <a:r>
              <a:rPr lang="en-US" sz="2400" dirty="0"/>
              <a:t> Noice removal, </a:t>
            </a:r>
            <a:r>
              <a:rPr lang="en-US" sz="2400" dirty="0" err="1"/>
              <a:t>normalalization</a:t>
            </a:r>
            <a:r>
              <a:rPr lang="en-US" sz="2400" dirty="0"/>
              <a:t>, resizing images, feature extraction.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Model Selection: </a:t>
            </a:r>
            <a:r>
              <a:rPr lang="en-US" sz="2400" dirty="0"/>
              <a:t>Choose ML algorithm (CNN).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Training: </a:t>
            </a:r>
            <a:r>
              <a:rPr lang="en-US" sz="2400" dirty="0"/>
              <a:t>Feed data into the model and adjust parameters.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Testing: </a:t>
            </a:r>
            <a:r>
              <a:rPr lang="en-US" sz="2400" dirty="0"/>
              <a:t>Evaluate accuracy on unseen test data.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Deployment :</a:t>
            </a:r>
            <a:r>
              <a:rPr lang="en-US" sz="2400" dirty="0"/>
              <a:t> Create a simple interface for patient testing.</a:t>
            </a:r>
            <a:endParaRPr lang="en-US" sz="2400" b="1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456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6EC8B-033A-ED23-9909-3026C694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F6303A-76F6-1930-34E9-8FEF55489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AFA321-5622-313E-D9E5-15145828642D}"/>
              </a:ext>
            </a:extLst>
          </p:cNvPr>
          <p:cNvSpPr txBox="1"/>
          <p:nvPr/>
        </p:nvSpPr>
        <p:spPr>
          <a:xfrm>
            <a:off x="2199561" y="422747"/>
            <a:ext cx="7792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Machine Learning Model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9EFBA-E783-7A97-EC7B-E9345D14E82C}"/>
              </a:ext>
            </a:extLst>
          </p:cNvPr>
          <p:cNvSpPr txBox="1"/>
          <p:nvPr/>
        </p:nvSpPr>
        <p:spPr>
          <a:xfrm>
            <a:off x="803910" y="1321605"/>
            <a:ext cx="10584180" cy="5560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Model Used: </a:t>
            </a:r>
            <a:r>
              <a:rPr lang="en-US" sz="2400" dirty="0"/>
              <a:t> CNN / Support Vector Machine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Reason for selection: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      * </a:t>
            </a:r>
            <a:r>
              <a:rPr lang="en-US" sz="2400" dirty="0"/>
              <a:t>High accuracy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* </a:t>
            </a:r>
            <a:r>
              <a:rPr lang="en-US" sz="2400" dirty="0"/>
              <a:t>Working well for medical datasets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* </a:t>
            </a:r>
            <a:r>
              <a:rPr lang="en-US" sz="2400" dirty="0"/>
              <a:t>Simple architecture and fast training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Tools/Technologies: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	* </a:t>
            </a:r>
            <a:r>
              <a:rPr lang="en-IN" sz="2400" dirty="0"/>
              <a:t>Python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	* </a:t>
            </a:r>
            <a:r>
              <a:rPr lang="en-IN" sz="2400" dirty="0"/>
              <a:t>TensorFlow / </a:t>
            </a:r>
            <a:r>
              <a:rPr lang="en-IN" sz="2400" dirty="0" err="1"/>
              <a:t>keras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b="1" dirty="0"/>
              <a:t>	* </a:t>
            </a:r>
            <a:r>
              <a:rPr lang="en-IN" sz="2400" dirty="0"/>
              <a:t>scikit – Learn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	* </a:t>
            </a:r>
            <a:r>
              <a:rPr lang="en-IN" sz="2400" dirty="0"/>
              <a:t>Matplotlib, NumPy, Pandas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1253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AF7D-8ACC-8812-5867-1810CFDC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522AD3-866A-EEF4-F9F9-73FCE56F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369760-CC2B-C40D-6B0A-6A8F80233465}"/>
              </a:ext>
            </a:extLst>
          </p:cNvPr>
          <p:cNvSpPr txBox="1"/>
          <p:nvPr/>
        </p:nvSpPr>
        <p:spPr>
          <a:xfrm>
            <a:off x="2199561" y="422747"/>
            <a:ext cx="7792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Results &amp; Evaluation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39C76-BDF7-E679-7693-6F92E0C2F50D}"/>
              </a:ext>
            </a:extLst>
          </p:cNvPr>
          <p:cNvSpPr txBox="1"/>
          <p:nvPr/>
        </p:nvSpPr>
        <p:spPr>
          <a:xfrm>
            <a:off x="803910" y="1321605"/>
            <a:ext cx="3790950" cy="655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Model Performance</a:t>
            </a:r>
            <a:endParaRPr lang="en-IN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208BE-04A6-5DC8-DA17-7F3F62A3F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765"/>
          <a:stretch>
            <a:fillRect/>
          </a:stretch>
        </p:blipFill>
        <p:spPr>
          <a:xfrm>
            <a:off x="394333" y="2181097"/>
            <a:ext cx="6255069" cy="3026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02178A-EB47-42C3-10B6-56915433E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2044773"/>
            <a:ext cx="5658382" cy="4041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F09EF7-1FF8-7B49-F306-1E12B5306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025" y="2803051"/>
            <a:ext cx="4358642" cy="3632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FE8A2-8D17-E8E0-DB35-AF2DA6DA0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3" y="1293805"/>
            <a:ext cx="11422069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9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9325-2A7A-182F-B9E9-3A05BE00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6FD93D-762B-5299-E689-A16239416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4DDC1D-DF02-11A2-A4BB-26B7D5CFC2C4}"/>
              </a:ext>
            </a:extLst>
          </p:cNvPr>
          <p:cNvSpPr txBox="1"/>
          <p:nvPr/>
        </p:nvSpPr>
        <p:spPr>
          <a:xfrm>
            <a:off x="1800820" y="674207"/>
            <a:ext cx="8590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Application / System Demo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E88D7C-D49E-7B99-6922-118CD4B166A3}"/>
              </a:ext>
            </a:extLst>
          </p:cNvPr>
          <p:cNvSpPr txBox="1"/>
          <p:nvPr/>
        </p:nvSpPr>
        <p:spPr>
          <a:xfrm>
            <a:off x="803910" y="2258865"/>
            <a:ext cx="10584180" cy="279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system allows users to upload a </a:t>
            </a:r>
            <a:r>
              <a:rPr lang="en-US" sz="2400" dirty="0" err="1"/>
              <a:t>img</a:t>
            </a:r>
            <a:r>
              <a:rPr lang="en-US" sz="2400" dirty="0"/>
              <a:t> report of brain scan.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Ml</a:t>
            </a:r>
            <a:r>
              <a:rPr lang="en-US" sz="2400" dirty="0"/>
              <a:t> model analyze the input and predicts </a:t>
            </a:r>
            <a:r>
              <a:rPr lang="en-US" sz="2400" b="1" dirty="0"/>
              <a:t>Healthy Brain/ Parkinson Detected.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interface also shows the probability score and report.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Designed to be easy for patients and healthcare workers to use.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55982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0D089-08B7-4EF9-1912-04AA1D794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78AF3E-4BE7-3579-D9D0-ED02371F5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F08095-8ED3-B539-0F43-17D332300807}"/>
              </a:ext>
            </a:extLst>
          </p:cNvPr>
          <p:cNvSpPr txBox="1"/>
          <p:nvPr/>
        </p:nvSpPr>
        <p:spPr>
          <a:xfrm>
            <a:off x="2781598" y="674207"/>
            <a:ext cx="6628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Working of the model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73D3C9-CAD1-B8E4-79F0-A7763B973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235" y="2504598"/>
            <a:ext cx="1848803" cy="184880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79E4FB9-D026-216F-FC39-3BE66CB74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414" y="2561777"/>
            <a:ext cx="1734444" cy="1734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5F495E-7AB6-005B-BC33-8EF597D88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2" y="2504598"/>
            <a:ext cx="1848803" cy="18488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8265E3-9E70-F2C3-3D3E-5926A9ABA609}"/>
              </a:ext>
            </a:extLst>
          </p:cNvPr>
          <p:cNvSpPr txBox="1"/>
          <p:nvPr/>
        </p:nvSpPr>
        <p:spPr>
          <a:xfrm>
            <a:off x="4386263" y="2890390"/>
            <a:ext cx="2171700" cy="1077218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PD_CNN_Model.h5</a:t>
            </a:r>
            <a:endParaRPr lang="en-IN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97CE0A-D086-6EB4-E1BE-208F16402930}"/>
              </a:ext>
            </a:extLst>
          </p:cNvPr>
          <p:cNvSpPr txBox="1"/>
          <p:nvPr/>
        </p:nvSpPr>
        <p:spPr>
          <a:xfrm>
            <a:off x="9048750" y="1813172"/>
            <a:ext cx="2171700" cy="1077218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Parkinson Detected</a:t>
            </a:r>
            <a:endParaRPr lang="en-IN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19641-D84D-3571-A4FE-17F7F3825930}"/>
              </a:ext>
            </a:extLst>
          </p:cNvPr>
          <p:cNvSpPr txBox="1"/>
          <p:nvPr/>
        </p:nvSpPr>
        <p:spPr>
          <a:xfrm>
            <a:off x="9048750" y="3967608"/>
            <a:ext cx="2171700" cy="1077218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Healthy Brain</a:t>
            </a:r>
            <a:endParaRPr lang="en-IN" sz="3200" b="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C1CE1A-E78C-E83E-9821-07B20B05899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557963" y="2351781"/>
            <a:ext cx="2328862" cy="107721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08A1EA-493E-15E2-F767-079BA2C74AC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557963" y="3428999"/>
            <a:ext cx="2328862" cy="107721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0E52D8-79FB-E467-BEA3-09CD4B1BC050}"/>
              </a:ext>
            </a:extLst>
          </p:cNvPr>
          <p:cNvCxnSpPr>
            <a:cxnSpLocks/>
          </p:cNvCxnSpPr>
          <p:nvPr/>
        </p:nvCxnSpPr>
        <p:spPr>
          <a:xfrm>
            <a:off x="2543175" y="3428999"/>
            <a:ext cx="1685925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C6604C-F925-2CB5-8C8D-68361420FB61}"/>
              </a:ext>
            </a:extLst>
          </p:cNvPr>
          <p:cNvSpPr txBox="1"/>
          <p:nvPr/>
        </p:nvSpPr>
        <p:spPr>
          <a:xfrm>
            <a:off x="351471" y="4564645"/>
            <a:ext cx="2077404" cy="40011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Patient Report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46887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8 0 L 0.33255 0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0.39036 -0.1571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18" y="-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0.38919 0.1571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53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CFDA-5D87-ECF5-FA41-5E6176AA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6523C7-F7C7-8AC3-91F6-BE49B74D8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851B06-5CC5-B7F9-38C2-AB67D57BFC1A}"/>
              </a:ext>
            </a:extLst>
          </p:cNvPr>
          <p:cNvSpPr txBox="1"/>
          <p:nvPr/>
        </p:nvSpPr>
        <p:spPr>
          <a:xfrm>
            <a:off x="4058900" y="612875"/>
            <a:ext cx="407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Conclusion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3CA7D-3525-8F17-757A-03967076DFBE}"/>
              </a:ext>
            </a:extLst>
          </p:cNvPr>
          <p:cNvSpPr txBox="1"/>
          <p:nvPr/>
        </p:nvSpPr>
        <p:spPr>
          <a:xfrm>
            <a:off x="803910" y="2258865"/>
            <a:ext cx="10584180" cy="2792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machine learning model achieves good accuracy in detecting Parkinson’s Disease.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It can help in early screening before symptoms become severe.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project shows the potential of ML in healthcare diagnosis.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Provide a fast, cost-effective, and reliable analysis tool.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9222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B8A5-3913-D096-FD7C-ACD35CE6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AE9C15-643B-B7DC-722D-69921A33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0"/>
            <a:ext cx="694372" cy="1028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17CFBF-8CA0-450B-FCB2-5BB063267AA3}"/>
              </a:ext>
            </a:extLst>
          </p:cNvPr>
          <p:cNvSpPr txBox="1"/>
          <p:nvPr/>
        </p:nvSpPr>
        <p:spPr>
          <a:xfrm>
            <a:off x="4058900" y="612875"/>
            <a:ext cx="407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</a:rPr>
              <a:t>Future Scope</a:t>
            </a:r>
            <a:endParaRPr lang="en-IN" sz="4800" b="1" dirty="0">
              <a:ln>
                <a:solidFill>
                  <a:srgbClr val="FFC00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2D602-7EC6-7C9D-9ED8-48B8A3D4574F}"/>
              </a:ext>
            </a:extLst>
          </p:cNvPr>
          <p:cNvSpPr txBox="1"/>
          <p:nvPr/>
        </p:nvSpPr>
        <p:spPr>
          <a:xfrm>
            <a:off x="803910" y="2258865"/>
            <a:ext cx="10584180" cy="2238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Improve model with more diverse and real-world patient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Build a mobile app for quick testing.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Add real-time tremor detection using sensors or handwriting tablets.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Collaborate with hospitals for clinical validation of the system.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665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635D2F-1AAA-4C09-B57E-79401AAAC45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468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Yadav</dc:creator>
  <cp:lastModifiedBy>Ashwin Yadav</cp:lastModifiedBy>
  <cp:revision>16</cp:revision>
  <dcterms:created xsi:type="dcterms:W3CDTF">2025-11-14T11:16:10Z</dcterms:created>
  <dcterms:modified xsi:type="dcterms:W3CDTF">2025-11-14T13:53:32Z</dcterms:modified>
</cp:coreProperties>
</file>